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($000)</c:v>
                </c:pt>
              </c:strCache>
            </c:strRef>
          </c:tx>
          <c:spPr>
            <a:solidFill>
              <a:srgbClr val="007E48"/>
            </a:solidFill>
            <a:ln>
              <a:solidFill>
                <a:srgbClr val="007E48"/>
              </a:solidFill>
            </a:ln>
          </c:spPr>
          <c:cat>
            <c:strRef>
              <c:f>Sheet1!$A$2:$A$5</c:f>
              <c:strCache>
                <c:ptCount val="4"/>
                <c:pt idx="0">
                  <c:v>29 Aug</c:v>
                </c:pt>
                <c:pt idx="1">
                  <c:v>05 Sep</c:v>
                </c:pt>
                <c:pt idx="2">
                  <c:v>12 Sep</c:v>
                </c:pt>
                <c:pt idx="3">
                  <c:v>19 Sep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362.7</c:v>
                </c:pt>
                <c:pt idx="1">
                  <c:v>376.3</c:v>
                </c:pt>
                <c:pt idx="2">
                  <c:v>392.3</c:v>
                </c:pt>
                <c:pt idx="3">
                  <c:v>414.3</c:v>
                </c:pt>
              </c:numCache>
            </c:numRef>
          </c:val>
        </c:ser>
        <c:dLbls>
          <c:numFmt formatCode="$0&quot;K&quot;" sourceLinked="0"/>
          <c:txPr>
            <a:bodyPr/>
            <a:lstStyle/>
            <a:p>
              <a:pPr>
                <a:defRPr sz="90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1111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0&quot;K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0574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Team education sessions</c:v>
                </c:pt>
              </c:strCache>
            </c:strRef>
          </c:tx>
          <c:spPr>
            <a:solidFill>
              <a:srgbClr val="007E48"/>
            </a:solidFill>
            <a:ln>
              <a:solidFill>
                <a:srgbClr val="007E48"/>
              </a:solidFill>
            </a:ln>
          </c:spPr>
          <c:cat>
            <c:strRef>
              <c:f>Sheet1!$A$2:$A$5</c:f>
              <c:strCache>
                <c:ptCount val="4"/>
                <c:pt idx="0">
                  <c:v>29 Aug</c:v>
                </c:pt>
                <c:pt idx="1">
                  <c:v>05 Sep</c:v>
                </c:pt>
                <c:pt idx="2">
                  <c:v>12 Sep</c:v>
                </c:pt>
                <c:pt idx="3">
                  <c:v>19 Sep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34</c:v>
                </c:pt>
                <c:pt idx="2">
                  <c:v>38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In-store brand activations</c:v>
                </c:pt>
              </c:strCache>
            </c:strRef>
          </c:tx>
          <c:spPr>
            <a:solidFill>
              <a:srgbClr val="8CC49E"/>
            </a:solidFill>
            <a:ln>
              <a:solidFill>
                <a:srgbClr val="8CC49E"/>
              </a:solidFill>
            </a:ln>
          </c:spPr>
          <c:cat>
            <c:strRef>
              <c:f>Sheet1!$A$2:$A$5</c:f>
              <c:strCache>
                <c:ptCount val="4"/>
                <c:pt idx="0">
                  <c:v>29 Aug</c:v>
                </c:pt>
                <c:pt idx="1">
                  <c:v>05 Sep</c:v>
                </c:pt>
                <c:pt idx="2">
                  <c:v>12 Sep</c:v>
                </c:pt>
                <c:pt idx="3">
                  <c:v>19 Sep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19</c:v>
                </c:pt>
                <c:pt idx="2">
                  <c:v>25</c:v>
                </c:pt>
                <c:pt idx="3">
                  <c:v>34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11111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1111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0574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Team education sessions</c:v>
                </c:pt>
              </c:strCache>
            </c:strRef>
          </c:tx>
          <c:spPr>
            <a:solidFill>
              <a:srgbClr val="007E48"/>
            </a:solidFill>
            <a:ln>
              <a:solidFill>
                <a:srgbClr val="007E48"/>
              </a:solidFill>
            </a:ln>
          </c:spPr>
          <c:cat>
            <c:strRef>
              <c:f>Sheet1!$A$2:$A$6</c:f>
              <c:strCache>
                <c:ptCount val="5"/>
                <c:pt idx="0">
                  <c:v>Store 008</c:v>
                </c:pt>
                <c:pt idx="1">
                  <c:v>Store 001</c:v>
                </c:pt>
                <c:pt idx="2">
                  <c:v>Store 011</c:v>
                </c:pt>
                <c:pt idx="3">
                  <c:v>Store 004</c:v>
                </c:pt>
                <c:pt idx="4">
                  <c:v>Store 007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In-store brand activations</c:v>
                </c:pt>
              </c:strCache>
            </c:strRef>
          </c:tx>
          <c:spPr>
            <a:solidFill>
              <a:srgbClr val="8CC49E"/>
            </a:solidFill>
            <a:ln>
              <a:solidFill>
                <a:srgbClr val="8CC49E"/>
              </a:solidFill>
            </a:ln>
          </c:spPr>
          <c:cat>
            <c:strRef>
              <c:f>Sheet1!$A$2:$A$6</c:f>
              <c:strCache>
                <c:ptCount val="5"/>
                <c:pt idx="0">
                  <c:v>Store 008</c:v>
                </c:pt>
                <c:pt idx="1">
                  <c:v>Store 001</c:v>
                </c:pt>
                <c:pt idx="2">
                  <c:v>Store 011</c:v>
                </c:pt>
                <c:pt idx="3">
                  <c:v>Store 004</c:v>
                </c:pt>
                <c:pt idx="4">
                  <c:v>Store 007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11111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1111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40574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9728" cy="2971800"/>
          </a:xfrm>
          <a:prstGeom prst="rect">
            <a:avLst/>
          </a:prstGeom>
          <a:solidFill>
            <a:srgbClr val="00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Weekly performance review</a:t>
            </a:r>
          </a:p>
          <a:p>
            <a:pPr>
              <a:defRPr sz="1900">
                <a:solidFill>
                  <a:srgbClr val="D7E5ED"/>
                </a:solidFill>
              </a:defRPr>
            </a:pPr>
            <a:r>
              <a:t>Week ending 19 September 2026</a:t>
            </a:r>
          </a:p>
          <a:p>
            <a:pPr>
              <a:defRPr sz="1400">
                <a:solidFill>
                  <a:srgbClr val="B9CDD8"/>
                </a:solidFill>
              </a:defRPr>
            </a:pPr>
            <a:r>
              <a:t>Power BI and validated Excel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4838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574F"/>
                </a:solidFill>
              </a:defRPr>
            </a:pPr>
            <a:r>
              <a:t>Week ending 19 September 2026 compared with 12 September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2743200" cy="1508760"/>
          </a:xfrm>
          <a:prstGeom prst="roundRect">
            <a:avLst/>
          </a:prstGeom>
          <a:solidFill>
            <a:srgbClr val="E7F2EA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sz="1100" b="1">
                <a:solidFill>
                  <a:srgbClr val="40574F"/>
                </a:solidFill>
              </a:defRPr>
            </a:pPr>
            <a:r>
              <a:t>Revenue</a:t>
            </a:r>
          </a:p>
          <a:p>
            <a:pPr>
              <a:defRPr sz="2500" b="1">
                <a:solidFill>
                  <a:srgbClr val="004838"/>
                </a:solidFill>
              </a:defRPr>
            </a:pPr>
            <a:r>
              <a:t>$414K</a:t>
            </a:r>
          </a:p>
          <a:p>
            <a:pPr>
              <a:defRPr sz="1000">
                <a:solidFill>
                  <a:srgbClr val="007E48"/>
                </a:solidFill>
              </a:defRPr>
            </a:pPr>
            <a:r>
              <a:t>+5.6% from previous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2736" y="1417320"/>
            <a:ext cx="2468880" cy="1508760"/>
          </a:xfrm>
          <a:prstGeom prst="roundRect">
            <a:avLst/>
          </a:prstGeom>
          <a:solidFill>
            <a:srgbClr val="E7F2EA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sz="1100" b="1">
                <a:solidFill>
                  <a:srgbClr val="40574F"/>
                </a:solidFill>
              </a:defRPr>
            </a:pPr>
            <a:r>
              <a:t>Total additional activities</a:t>
            </a:r>
          </a:p>
          <a:p>
            <a:pPr>
              <a:defRPr sz="2500" b="1">
                <a:solidFill>
                  <a:srgbClr val="004838"/>
                </a:solidFill>
              </a:defRPr>
            </a:pPr>
            <a:r>
              <a:t>84</a:t>
            </a:r>
          </a:p>
          <a:p>
            <a:pPr>
              <a:defRPr sz="1000">
                <a:solidFill>
                  <a:srgbClr val="007E48"/>
                </a:solidFill>
              </a:defRPr>
            </a:pPr>
            <a:r>
              <a:t>+21 vs previous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417320"/>
            <a:ext cx="2468880" cy="1508760"/>
          </a:xfrm>
          <a:prstGeom prst="roundRect">
            <a:avLst/>
          </a:prstGeom>
          <a:solidFill>
            <a:srgbClr val="E7F2EA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sz="1100" b="1">
                <a:solidFill>
                  <a:srgbClr val="40574F"/>
                </a:solidFill>
              </a:defRPr>
            </a:pPr>
            <a:r>
              <a:t>Active stores</a:t>
            </a:r>
          </a:p>
          <a:p>
            <a:pPr>
              <a:defRPr sz="2500" b="1">
                <a:solidFill>
                  <a:srgbClr val="004838"/>
                </a:solidFill>
              </a:defRPr>
            </a:pPr>
            <a:r>
              <a:t>12</a:t>
            </a:r>
          </a:p>
          <a:p>
            <a:pPr>
              <a:defRPr sz="1000">
                <a:solidFill>
                  <a:srgbClr val="007E48"/>
                </a:solidFill>
              </a:defRPr>
            </a:pPr>
            <a:r>
              <a:t>0 vs previous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2832" y="1417320"/>
            <a:ext cx="2578608" cy="1508760"/>
          </a:xfrm>
          <a:prstGeom prst="roundRect">
            <a:avLst/>
          </a:prstGeom>
          <a:solidFill>
            <a:srgbClr val="E7F2EA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sz="1100" b="1">
                <a:solidFill>
                  <a:srgbClr val="40574F"/>
                </a:solidFill>
              </a:defRPr>
            </a:pPr>
            <a:r>
              <a:t>Leading activity store</a:t>
            </a:r>
          </a:p>
          <a:p>
            <a:pPr>
              <a:defRPr sz="2500" b="1">
                <a:solidFill>
                  <a:srgbClr val="004838"/>
                </a:solidFill>
              </a:defRPr>
            </a:pPr>
            <a:r>
              <a:t>Store 007</a:t>
            </a:r>
          </a:p>
          <a:p>
            <a:pPr>
              <a:defRPr sz="1000">
                <a:solidFill>
                  <a:srgbClr val="007E48"/>
                </a:solidFill>
              </a:defRPr>
            </a:pPr>
            <a:r>
              <a:t>9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83280"/>
            <a:ext cx="106984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4838"/>
                </a:solidFill>
              </a:defRPr>
            </a:pPr>
            <a:r>
              <a:t>What changed this week</a:t>
            </a:r>
          </a:p>
          <a:p>
            <a:pPr>
              <a:spcBef>
                <a:spcPts val="1000"/>
              </a:spcBef>
              <a:defRPr sz="1600">
                <a:solidFill>
                  <a:srgbClr val="111111"/>
                </a:solidFill>
              </a:defRPr>
            </a:pPr>
            <a:r>
              <a:t>Revenue increased by 5.6% to $414,300.</a:t>
            </a:r>
          </a:p>
          <a:p>
            <a:pPr>
              <a:spcBef>
                <a:spcPts val="1000"/>
              </a:spcBef>
              <a:defRPr sz="1600">
                <a:solidFill>
                  <a:srgbClr val="111111"/>
                </a:solidFill>
              </a:defRPr>
            </a:pPr>
            <a:r>
              <a:t>Total additional activities increased from 63 to 84.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504688"/>
            <a:ext cx="10881360" cy="621792"/>
          </a:xfrm>
          <a:prstGeom prst="roundRect">
            <a:avLst/>
          </a:prstGeom>
          <a:solidFill>
            <a:srgbClr val="E7F2EA"/>
          </a:solidFill>
          <a:ln>
            <a:solidFill>
              <a:srgbClr val="C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91440"/>
          <a:lstStyle/>
          <a:p>
            <a:pPr algn="ctr"/>
            <a:r>
              <a:rPr sz="1100" b="1">
                <a:solidFill>
                  <a:srgbClr val="007E48"/>
                </a:solidFill>
              </a:rPr>
              <a:t>AI commentary  </a:t>
            </a:r>
            <a:r>
              <a:rPr sz="1100">
                <a:solidFill>
                  <a:srgbClr val="111111"/>
                </a:solidFill>
              </a:rPr>
              <a:t>Revenue increased by 5.6% to $414,300.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0196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Weekly Reporting Automation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4838"/>
                </a:solidFill>
              </a:defRPr>
            </a:pPr>
            <a:r>
              <a:t>Revenue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574F"/>
                </a:solidFill>
              </a:defRPr>
            </a:pPr>
            <a:r>
              <a:t>Validated Power BI measure across available reporting weeks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417320"/>
          <a:ext cx="106984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" y="5623560"/>
            <a:ext cx="10881360" cy="621792"/>
          </a:xfrm>
          <a:prstGeom prst="roundRect">
            <a:avLst/>
          </a:prstGeom>
          <a:solidFill>
            <a:srgbClr val="E7F2EA"/>
          </a:solidFill>
          <a:ln>
            <a:solidFill>
              <a:srgbClr val="C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91440"/>
          <a:lstStyle/>
          <a:p>
            <a:pPr algn="ctr"/>
            <a:r>
              <a:rPr sz="1100" b="1">
                <a:solidFill>
                  <a:srgbClr val="007E48"/>
                </a:solidFill>
              </a:rPr>
              <a:t>AI commentary  </a:t>
            </a:r>
            <a:r>
              <a:rPr sz="1100">
                <a:solidFill>
                  <a:srgbClr val="111111"/>
                </a:solidFill>
              </a:rPr>
              <a:t>Revenue increased by 5.6% to $414,300.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Weekly Reporting Automation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4838"/>
                </a:solidFill>
              </a:defRPr>
            </a:pPr>
            <a:r>
              <a:t>Additional activity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574F"/>
                </a:solidFill>
              </a:defRPr>
            </a:pPr>
            <a:r>
              <a:t>Validated weekly Excel measures after integration into the reporting 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417320"/>
          <a:ext cx="106984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" y="5623560"/>
            <a:ext cx="10881360" cy="621792"/>
          </a:xfrm>
          <a:prstGeom prst="roundRect">
            <a:avLst/>
          </a:prstGeom>
          <a:solidFill>
            <a:srgbClr val="E7F2EA"/>
          </a:solidFill>
          <a:ln>
            <a:solidFill>
              <a:srgbClr val="C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91440"/>
          <a:lstStyle/>
          <a:p>
            <a:pPr algn="ctr"/>
            <a:r>
              <a:rPr sz="1100" b="1">
                <a:solidFill>
                  <a:srgbClr val="007E48"/>
                </a:solidFill>
              </a:rPr>
              <a:t>AI commentary  </a:t>
            </a:r>
            <a:r>
              <a:rPr sz="1100">
                <a:solidFill>
                  <a:srgbClr val="111111"/>
                </a:solidFill>
              </a:rPr>
              <a:t>Total additional activities increased from 63 to 84. Team education sessions increased from 38 to 50.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Weekly Reporting Automation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4838"/>
                </a:solidFill>
              </a:defRPr>
            </a:pPr>
            <a:r>
              <a:t>Store activity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574F"/>
                </a:solidFill>
              </a:defRPr>
            </a:pPr>
            <a:r>
              <a:t>Top five stores for week ending 19 September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417320"/>
          <a:ext cx="106984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" y="5623560"/>
            <a:ext cx="10881360" cy="621792"/>
          </a:xfrm>
          <a:prstGeom prst="roundRect">
            <a:avLst/>
          </a:prstGeom>
          <a:solidFill>
            <a:srgbClr val="E7F2EA"/>
          </a:solidFill>
          <a:ln>
            <a:solidFill>
              <a:srgbClr val="C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91440"/>
          <a:lstStyle/>
          <a:p>
            <a:pPr algn="ctr"/>
            <a:r>
              <a:rPr sz="1100" b="1">
                <a:solidFill>
                  <a:srgbClr val="007E48"/>
                </a:solidFill>
              </a:rPr>
              <a:t>AI commentary  </a:t>
            </a:r>
            <a:r>
              <a:rPr sz="1100">
                <a:solidFill>
                  <a:srgbClr val="111111"/>
                </a:solidFill>
              </a:rPr>
              <a:t>Store 007 recorded the highest activity with 9 education sessions and brand activations combined.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Weekly Reporting Automation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4838"/>
                </a:solidFill>
              </a:defRPr>
            </a:pPr>
            <a:r>
              <a:t>Management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574F"/>
                </a:solidFill>
              </a:defRPr>
            </a:pPr>
            <a:r>
              <a:t>AI-assisted wording grounded in validated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10744200" cy="4389120"/>
          </a:xfrm>
          <a:prstGeom prst="roundRect">
            <a:avLst/>
          </a:prstGeom>
          <a:solidFill>
            <a:srgbClr val="E7F2EA"/>
          </a:solidFill>
          <a:ln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74320"/>
          <a:lstStyle/>
          <a:p>
            <a:pPr algn="l">
              <a:spcAft>
                <a:spcPts val="1600"/>
              </a:spcAft>
              <a:defRPr sz="1700">
                <a:solidFill>
                  <a:srgbClr val="111111"/>
                </a:solidFill>
              </a:defRPr>
            </a:pPr>
            <a:r>
              <a:t>• Revenue increased by 5.6% to $414,300.</a:t>
            </a:r>
          </a:p>
          <a:p>
            <a:pPr algn="l">
              <a:spcAft>
                <a:spcPts val="1600"/>
              </a:spcAft>
              <a:defRPr sz="1700">
                <a:solidFill>
                  <a:srgbClr val="111111"/>
                </a:solidFill>
              </a:defRPr>
            </a:pPr>
            <a:r>
              <a:t>• Total additional activities increased from 63 to 84.</a:t>
            </a:r>
          </a:p>
          <a:p>
            <a:pPr algn="l">
              <a:spcAft>
                <a:spcPts val="1600"/>
              </a:spcAft>
              <a:defRPr sz="1700">
                <a:solidFill>
                  <a:srgbClr val="111111"/>
                </a:solidFill>
              </a:defRPr>
            </a:pPr>
            <a:r>
              <a:t>• Team education sessions increased from 38 to 50.</a:t>
            </a:r>
          </a:p>
          <a:p>
            <a:pPr algn="l">
              <a:spcAft>
                <a:spcPts val="1600"/>
              </a:spcAft>
              <a:defRPr sz="1700">
                <a:solidFill>
                  <a:srgbClr val="111111"/>
                </a:solidFill>
              </a:defRPr>
            </a:pPr>
            <a:r>
              <a:t>• In-store brand activations increased from 25 to 34.</a:t>
            </a:r>
          </a:p>
          <a:p>
            <a:pPr algn="l">
              <a:spcAft>
                <a:spcPts val="1600"/>
              </a:spcAft>
              <a:defRPr sz="1700">
                <a:solidFill>
                  <a:srgbClr val="111111"/>
                </a:solidFill>
              </a:defRPr>
            </a:pPr>
            <a:r>
              <a:t>• Store 007 recorded the highest activity with 9 education sessions and brand activations combined.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2531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574F"/>
                </a:solidFill>
              </a:defRPr>
            </a:pPr>
            <a:r>
              <a:t>Control: KPI calculations remain outside the language model. Commentary requires analyst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Weekly Reporting Automation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